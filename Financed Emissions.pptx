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Caveat"/>
      <p:regular r:id="rId30"/>
      <p:bold r:id="rId31"/>
    </p:embeddedFont>
    <p:embeddedFont>
      <p:font typeface="Raleway ExtraBold"/>
      <p:bold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Montserrat Medium"/>
      <p:regular r:id="rId38"/>
      <p:bold r:id="rId39"/>
      <p:italic r:id="rId40"/>
      <p:boldItalic r:id="rId41"/>
    </p:embeddedFont>
    <p:embeddedFont>
      <p:font typeface="Montserrat Light"/>
      <p:regular r:id="rId42"/>
      <p:bold r:id="rId43"/>
      <p:italic r:id="rId44"/>
      <p:boldItalic r:id="rId45"/>
    </p:embeddedFont>
    <p:embeddedFont>
      <p:font typeface="Average"/>
      <p:regular r:id="rId46"/>
    </p:embeddedFont>
    <p:embeddedFont>
      <p:font typeface="Montserrat ExtraBold"/>
      <p:bold r:id="rId47"/>
      <p:boldItalic r:id="rId48"/>
    </p:embeddedFont>
    <p:embeddedFont>
      <p:font typeface="Oswald"/>
      <p:regular r:id="rId49"/>
      <p:bold r:id="rId50"/>
    </p:embeddedFont>
    <p:embeddedFont>
      <p:font typeface="Century Gothic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78343F-18F7-4C15-9314-DD8F16BAFE89}">
  <a:tblStyle styleId="{CC78343F-18F7-4C15-9314-DD8F16BAFE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italic.fntdata"/><Relationship Id="rId42" Type="http://schemas.openxmlformats.org/officeDocument/2006/relationships/font" Target="fonts/MontserratLight-regular.fntdata"/><Relationship Id="rId41" Type="http://schemas.openxmlformats.org/officeDocument/2006/relationships/font" Target="fonts/MontserratMedium-boldItalic.fntdata"/><Relationship Id="rId44" Type="http://schemas.openxmlformats.org/officeDocument/2006/relationships/font" Target="fonts/MontserratLight-italic.fntdata"/><Relationship Id="rId43" Type="http://schemas.openxmlformats.org/officeDocument/2006/relationships/font" Target="fonts/MontserratLight-bold.fntdata"/><Relationship Id="rId46" Type="http://schemas.openxmlformats.org/officeDocument/2006/relationships/font" Target="fonts/Average-regular.fntdata"/><Relationship Id="rId45" Type="http://schemas.openxmlformats.org/officeDocument/2006/relationships/font" Target="fonts/Montserrat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ExtraBold-boldItalic.fntdata"/><Relationship Id="rId47" Type="http://schemas.openxmlformats.org/officeDocument/2006/relationships/font" Target="fonts/MontserratExtraBold-bold.fntdata"/><Relationship Id="rId49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aveat-bold.fntdata"/><Relationship Id="rId30" Type="http://schemas.openxmlformats.org/officeDocument/2006/relationships/font" Target="fonts/Caveat-regular.fntdata"/><Relationship Id="rId33" Type="http://schemas.openxmlformats.org/officeDocument/2006/relationships/font" Target="fonts/RalewayExtraBold-boldItalic.fntdata"/><Relationship Id="rId32" Type="http://schemas.openxmlformats.org/officeDocument/2006/relationships/font" Target="fonts/RalewayExtraBold-bold.fntdata"/><Relationship Id="rId35" Type="http://schemas.openxmlformats.org/officeDocument/2006/relationships/font" Target="fonts/Montserrat-bold.fntdata"/><Relationship Id="rId34" Type="http://schemas.openxmlformats.org/officeDocument/2006/relationships/font" Target="fonts/Montserrat-regular.fntdata"/><Relationship Id="rId37" Type="http://schemas.openxmlformats.org/officeDocument/2006/relationships/font" Target="fonts/Montserrat-boldItalic.fntdata"/><Relationship Id="rId36" Type="http://schemas.openxmlformats.org/officeDocument/2006/relationships/font" Target="fonts/Montserrat-italic.fntdata"/><Relationship Id="rId39" Type="http://schemas.openxmlformats.org/officeDocument/2006/relationships/font" Target="fonts/MontserratMedium-bold.fntdata"/><Relationship Id="rId38" Type="http://schemas.openxmlformats.org/officeDocument/2006/relationships/font" Target="fonts/MontserratMedium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Raleway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29" Type="http://schemas.openxmlformats.org/officeDocument/2006/relationships/font" Target="fonts/Raleway-boldItalic.fntdata"/><Relationship Id="rId51" Type="http://schemas.openxmlformats.org/officeDocument/2006/relationships/font" Target="fonts/CenturyGothic-regular.fntdata"/><Relationship Id="rId50" Type="http://schemas.openxmlformats.org/officeDocument/2006/relationships/font" Target="fonts/Oswald-bold.fntdata"/><Relationship Id="rId53" Type="http://schemas.openxmlformats.org/officeDocument/2006/relationships/font" Target="fonts/CenturyGothic-italic.fntdata"/><Relationship Id="rId52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2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because they excel at finding non-linear patterns in structured tabular data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b8c89f6c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b8c89f6c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b8c89f6c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b8c89f6c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b8c89f6c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b8c89f6c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b8c89f6c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b8c89f6c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b8c89f6c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b8c89f6c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b8c89f6c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b8c89f6c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b8c89f6c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b8c89f6c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b8c89f6c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8b8c89f6c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b8c89f6c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b8c89f6c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b8c89f6c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8b8c89f6c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b8c89f6c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8b8c89f6c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b8c89f6c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b8c89f6c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b8c89f6c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b8c89f6c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b8c89f6c3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8b8c89f6c3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b8c89f6c3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8b8c89f6c3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b8c89f6c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8b8c89f6c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/>
        </p:nvSpPr>
        <p:spPr>
          <a:xfrm>
            <a:off x="370118" y="3127241"/>
            <a:ext cx="831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August 2025</a:t>
            </a:r>
            <a:endParaRPr b="1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40652" y="2279596"/>
            <a:ext cx="84627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Estimating CO2 from car features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47925" y="900725"/>
            <a:ext cx="83346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Vehicle CO₂</a:t>
            </a:r>
            <a:endParaRPr b="1" i="0" sz="5000" u="none" cap="none" strike="noStrike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Estimator</a:t>
            </a:r>
            <a:endParaRPr b="1" i="0" sz="3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3917007" y="908302"/>
            <a:ext cx="1309800" cy="1309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97300" y="1192987"/>
            <a:ext cx="134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b="0" i="0" sz="5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0" y="2571750"/>
            <a:ext cx="91440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</a:t>
            </a:r>
            <a:r>
              <a:rPr b="1" i="0" lang="en" sz="7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GOAL</a:t>
            </a:r>
            <a:endParaRPr b="0" i="0" sz="4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0552" y="3440246"/>
            <a:ext cx="84627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Learn more about data science by trying to train a model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5"/>
          <p:cNvCxnSpPr/>
          <p:nvPr/>
        </p:nvCxnSpPr>
        <p:spPr>
          <a:xfrm>
            <a:off x="4560600" y="1627177"/>
            <a:ext cx="0" cy="3533100"/>
          </a:xfrm>
          <a:prstGeom prst="straightConnector1">
            <a:avLst/>
          </a:prstGeom>
          <a:noFill/>
          <a:ln cap="flat" cmpd="sng" w="9525">
            <a:solidFill>
              <a:srgbClr val="3F5A6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5" name="Google Shape;75;p15"/>
          <p:cNvSpPr txBox="1"/>
          <p:nvPr/>
        </p:nvSpPr>
        <p:spPr>
          <a:xfrm>
            <a:off x="258375" y="2139700"/>
            <a:ext cx="38016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50" lIns="83750" spcFirstLastPara="1" rIns="83750" wrap="square" tIns="4185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2"/>
              <a:buFont typeface="Arial"/>
              <a:buNone/>
            </a:pPr>
            <a:r>
              <a:rPr b="1" i="0" lang="en" sz="128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Estimate WLTP CO₂ from vehicle specs</a:t>
            </a:r>
            <a:r>
              <a:rPr b="1" lang="en" sz="12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using decision tree models.</a:t>
            </a:r>
            <a:br>
              <a:rPr b="0" i="0" lang="en" sz="1282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b="0" i="0" sz="1282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813816" y="1810512"/>
            <a:ext cx="324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50" lIns="83750" spcFirstLastPara="1" rIns="83750" wrap="square" tIns="4185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2"/>
              <a:buFont typeface="Arial"/>
              <a:buNone/>
            </a:pPr>
            <a:r>
              <a:rPr b="0" i="0" lang="en" sz="1832" u="none" cap="none" strike="noStrike">
                <a:solidFill>
                  <a:srgbClr val="F78C2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PREDICT</a:t>
            </a:r>
            <a:endParaRPr b="0" i="0" sz="1832" u="none" cap="none" strike="noStrike">
              <a:solidFill>
                <a:srgbClr val="F78C2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151043" y="1859754"/>
            <a:ext cx="817255" cy="817255"/>
            <a:chOff x="4138722" y="761902"/>
            <a:chExt cx="892200" cy="892200"/>
          </a:xfrm>
        </p:grpSpPr>
        <p:sp>
          <p:nvSpPr>
            <p:cNvPr id="78" name="Google Shape;78;p15"/>
            <p:cNvSpPr/>
            <p:nvPr/>
          </p:nvSpPr>
          <p:spPr>
            <a:xfrm>
              <a:off x="4138722" y="761902"/>
              <a:ext cx="892200" cy="892200"/>
            </a:xfrm>
            <a:prstGeom prst="ellipse">
              <a:avLst/>
            </a:prstGeom>
            <a:solidFill>
              <a:srgbClr val="223848"/>
            </a:solidFill>
            <a:ln cap="flat" cmpd="sng" w="9525">
              <a:solidFill>
                <a:srgbClr val="3F5A6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1850" lIns="83750" spcFirstLastPara="1" rIns="83750" wrap="square" tIns="41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6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4201047" y="824227"/>
              <a:ext cx="767700" cy="767700"/>
            </a:xfrm>
            <a:prstGeom prst="ellipse">
              <a:avLst/>
            </a:prstGeom>
            <a:solidFill>
              <a:srgbClr val="F78C23"/>
            </a:solidFill>
            <a:ln>
              <a:noFill/>
            </a:ln>
          </p:spPr>
          <p:txBody>
            <a:bodyPr anchorCtr="0" anchor="ctr" bIns="41850" lIns="83750" spcFirstLastPara="1" rIns="83750" wrap="square" tIns="41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6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4151043" y="2843306"/>
            <a:ext cx="817255" cy="817255"/>
            <a:chOff x="4138722" y="761902"/>
            <a:chExt cx="892200" cy="892200"/>
          </a:xfrm>
        </p:grpSpPr>
        <p:sp>
          <p:nvSpPr>
            <p:cNvPr id="81" name="Google Shape;81;p15"/>
            <p:cNvSpPr/>
            <p:nvPr/>
          </p:nvSpPr>
          <p:spPr>
            <a:xfrm>
              <a:off x="4138722" y="761902"/>
              <a:ext cx="892200" cy="892200"/>
            </a:xfrm>
            <a:prstGeom prst="ellipse">
              <a:avLst/>
            </a:prstGeom>
            <a:solidFill>
              <a:srgbClr val="223848"/>
            </a:solidFill>
            <a:ln cap="flat" cmpd="sng" w="9525">
              <a:solidFill>
                <a:srgbClr val="3F5A6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1850" lIns="83750" spcFirstLastPara="1" rIns="83750" wrap="square" tIns="41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6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4201047" y="824227"/>
              <a:ext cx="767700" cy="767700"/>
            </a:xfrm>
            <a:prstGeom prst="ellipse">
              <a:avLst/>
            </a:prstGeom>
            <a:solidFill>
              <a:srgbClr val="E0446D"/>
            </a:solidFill>
            <a:ln>
              <a:noFill/>
            </a:ln>
          </p:spPr>
          <p:txBody>
            <a:bodyPr anchorCtr="0" anchor="ctr" bIns="41850" lIns="83750" spcFirstLastPara="1" rIns="83750" wrap="square" tIns="41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6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4151043" y="3826858"/>
            <a:ext cx="817255" cy="817255"/>
            <a:chOff x="4138722" y="761902"/>
            <a:chExt cx="892200" cy="892200"/>
          </a:xfrm>
        </p:grpSpPr>
        <p:sp>
          <p:nvSpPr>
            <p:cNvPr id="84" name="Google Shape;84;p15"/>
            <p:cNvSpPr/>
            <p:nvPr/>
          </p:nvSpPr>
          <p:spPr>
            <a:xfrm>
              <a:off x="4138722" y="761902"/>
              <a:ext cx="892200" cy="892200"/>
            </a:xfrm>
            <a:prstGeom prst="ellipse">
              <a:avLst/>
            </a:prstGeom>
            <a:solidFill>
              <a:srgbClr val="223848"/>
            </a:solidFill>
            <a:ln cap="flat" cmpd="sng" w="9525">
              <a:solidFill>
                <a:srgbClr val="3F5A6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1850" lIns="83750" spcFirstLastPara="1" rIns="83750" wrap="square" tIns="41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6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201047" y="824227"/>
              <a:ext cx="767700" cy="767700"/>
            </a:xfrm>
            <a:prstGeom prst="ellipse">
              <a:avLst/>
            </a:prstGeom>
            <a:solidFill>
              <a:srgbClr val="14B5C6"/>
            </a:solidFill>
            <a:ln>
              <a:noFill/>
            </a:ln>
          </p:spPr>
          <p:txBody>
            <a:bodyPr anchorCtr="0" anchor="ctr" bIns="41850" lIns="83750" spcFirstLastPara="1" rIns="83750" wrap="square" tIns="41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6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86" name="Google Shape;86;p15"/>
          <p:cNvSpPr txBox="1"/>
          <p:nvPr/>
        </p:nvSpPr>
        <p:spPr>
          <a:xfrm>
            <a:off x="137275" y="4059925"/>
            <a:ext cx="3922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50" lIns="83750" spcFirstLastPara="1" rIns="83750" wrap="square" tIns="4185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2"/>
              <a:buFont typeface="Arial"/>
              <a:buNone/>
            </a:pPr>
            <a:r>
              <a:rPr b="1" lang="en" sz="12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i="0" lang="en" sz="128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inanced-emissions</a:t>
            </a:r>
            <a:r>
              <a:rPr b="1" lang="en" sz="12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28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accounting</a:t>
            </a:r>
            <a:endParaRPr b="1" i="0" sz="128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2"/>
              <a:buFont typeface="Arial"/>
              <a:buNone/>
            </a:pPr>
            <a:r>
              <a:rPr b="1" lang="en" sz="12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 e-commerce</a:t>
            </a:r>
            <a:endParaRPr b="1" sz="12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2"/>
              <a:buFont typeface="Arial"/>
              <a:buNone/>
            </a:pPr>
            <a:r>
              <a:rPr b="1" lang="en" sz="12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Regulatory compliance</a:t>
            </a:r>
            <a:br>
              <a:rPr b="1" i="0" lang="en" sz="128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82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487099" y="3730750"/>
            <a:ext cx="357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50" lIns="83750" spcFirstLastPara="1" rIns="83750" wrap="square" tIns="4185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2"/>
              <a:buFont typeface="Arial"/>
              <a:buNone/>
            </a:pPr>
            <a:r>
              <a:rPr lang="en" sz="1832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REAL WORLD </a:t>
            </a:r>
            <a:r>
              <a:rPr b="0" i="0" lang="en" sz="1832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PURPOSES</a:t>
            </a:r>
            <a:endParaRPr b="0" i="0" sz="1832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138925" y="2982300"/>
            <a:ext cx="32460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50" lIns="83750" spcFirstLastPara="1" rIns="83750" wrap="square" tIns="418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2"/>
              <a:buFont typeface="Arial"/>
              <a:buNone/>
            </a:pPr>
            <a:r>
              <a:rPr b="1" i="0" lang="en" sz="128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Mean error near 5% of the average.</a:t>
            </a:r>
            <a:endParaRPr b="1" i="0" sz="128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2"/>
              <a:buFont typeface="Arial"/>
              <a:buNone/>
            </a:pPr>
            <a:r>
              <a:rPr lang="en" sz="1282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average emissions is around 150, then I wanted MAE to be around 7.5 or less.</a:t>
            </a:r>
            <a:endParaRPr sz="1282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2"/>
              <a:buFont typeface="Arial"/>
              <a:buNone/>
            </a:pPr>
            <a:r>
              <a:rPr lang="en" sz="1282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→ 5% of 150 = 7.5</a:t>
            </a:r>
            <a:br>
              <a:rPr b="0" i="0" lang="en" sz="1282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b="0" i="0" sz="1282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5138866" y="2642613"/>
            <a:ext cx="324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50" lIns="83750" spcFirstLastPara="1" rIns="83750" wrap="square" tIns="418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2"/>
              <a:buFont typeface="Arial"/>
              <a:buNone/>
            </a:pPr>
            <a:r>
              <a:rPr b="0" i="0" lang="en" sz="1832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TARGET</a:t>
            </a:r>
            <a:endParaRPr b="0" i="0" sz="1832" u="none" cap="none" strike="noStrike">
              <a:solidFill>
                <a:srgbClr val="E0446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050" y="1987250"/>
            <a:ext cx="522598" cy="52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050" y="2982288"/>
            <a:ext cx="522598" cy="52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050" y="3964538"/>
            <a:ext cx="522598" cy="5225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0" y="227931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BUILDING </a:t>
            </a:r>
            <a:r>
              <a:rPr b="1" i="0" lang="en" sz="4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  </a:t>
            </a: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MODEL</a:t>
            </a:r>
            <a:br>
              <a:rPr b="0" i="0" lang="en" sz="4000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15"/>
          <p:cNvCxnSpPr/>
          <p:nvPr/>
        </p:nvCxnSpPr>
        <p:spPr>
          <a:xfrm>
            <a:off x="4310700" y="1636120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943450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773481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603513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952084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10.8M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952084" y="3227891"/>
            <a:ext cx="177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REGISTRATION EVENTS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(EEA, 2025)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771605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43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771605" y="3227891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RAW COLUMNS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 RECORD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4602567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118K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4602567" y="3227891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DISTINCT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VEHICLE SPECS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434509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433563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433563" y="3227891"/>
            <a:ext cx="177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FEATURES USED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PREDICT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0" y="532694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0ECC83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DATASET IN </a:t>
            </a:r>
            <a:r>
              <a:rPr b="0" i="0" lang="en" sz="4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NUMBERS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" name="Google Shape;112;p16"/>
          <p:cNvCxnSpPr/>
          <p:nvPr/>
        </p:nvCxnSpPr>
        <p:spPr>
          <a:xfrm>
            <a:off x="4310700" y="1940883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0ECC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6"/>
          <p:cNvSpPr txBox="1"/>
          <p:nvPr/>
        </p:nvSpPr>
        <p:spPr>
          <a:xfrm>
            <a:off x="952075" y="4681150"/>
            <a:ext cx="570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EEA: European Environmental Agency</a:t>
            </a:r>
            <a:endParaRPr i="1"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17"/>
          <p:cNvCxnSpPr/>
          <p:nvPr/>
        </p:nvCxnSpPr>
        <p:spPr>
          <a:xfrm flipH="1" rot="10800000">
            <a:off x="1368244" y="2944605"/>
            <a:ext cx="730800" cy="502200"/>
          </a:xfrm>
          <a:prstGeom prst="straightConnector1">
            <a:avLst/>
          </a:prstGeom>
          <a:noFill/>
          <a:ln cap="rnd" cmpd="sng" w="11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7"/>
          <p:cNvCxnSpPr/>
          <p:nvPr/>
        </p:nvCxnSpPr>
        <p:spPr>
          <a:xfrm>
            <a:off x="2851036" y="2945135"/>
            <a:ext cx="730800" cy="502200"/>
          </a:xfrm>
          <a:prstGeom prst="straightConnector1">
            <a:avLst/>
          </a:prstGeom>
          <a:noFill/>
          <a:ln cap="rnd" cmpd="sng" w="11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5596387" y="2945135"/>
            <a:ext cx="730800" cy="502200"/>
          </a:xfrm>
          <a:prstGeom prst="straightConnector1">
            <a:avLst/>
          </a:prstGeom>
          <a:noFill/>
          <a:ln cap="rnd" cmpd="sng" w="11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17"/>
          <p:cNvCxnSpPr/>
          <p:nvPr/>
        </p:nvCxnSpPr>
        <p:spPr>
          <a:xfrm flipH="1" rot="10800000">
            <a:off x="4113594" y="2944605"/>
            <a:ext cx="730800" cy="502200"/>
          </a:xfrm>
          <a:prstGeom prst="straightConnector1">
            <a:avLst/>
          </a:prstGeom>
          <a:noFill/>
          <a:ln cap="rnd" cmpd="sng" w="11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17"/>
          <p:cNvCxnSpPr/>
          <p:nvPr/>
        </p:nvCxnSpPr>
        <p:spPr>
          <a:xfrm flipH="1" rot="10800000">
            <a:off x="6858946" y="2944605"/>
            <a:ext cx="730800" cy="502200"/>
          </a:xfrm>
          <a:prstGeom prst="straightConnector1">
            <a:avLst/>
          </a:prstGeom>
          <a:noFill/>
          <a:ln cap="rnd" cmpd="sng" w="11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7"/>
          <p:cNvSpPr txBox="1"/>
          <p:nvPr/>
        </p:nvSpPr>
        <p:spPr>
          <a:xfrm>
            <a:off x="1500360" y="1454926"/>
            <a:ext cx="196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4"/>
              <a:buFont typeface="Arial"/>
              <a:buNone/>
            </a:pPr>
            <a:r>
              <a:rPr b="0" i="0" lang="en" sz="1724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SPLIT FIRST</a:t>
            </a:r>
            <a:endParaRPr b="0" i="0" sz="1724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357610" y="1707592"/>
            <a:ext cx="22506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"/>
              <a:buFont typeface="Arial"/>
              <a:buNone/>
            </a:pPr>
            <a:r>
              <a:rPr b="0" i="0" lang="en" sz="118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Hold out 30% for validation before any exploration, so no choice peeks at test data.</a:t>
            </a:r>
            <a:endParaRPr b="0" i="0" sz="118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726426" y="3035115"/>
            <a:ext cx="751800" cy="751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None/>
            </a:pPr>
            <a:r>
              <a:rPr b="0" i="0" lang="en" sz="3233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0" i="0" sz="3233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471783" y="3035115"/>
            <a:ext cx="751800" cy="751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None/>
            </a:pPr>
            <a:r>
              <a:rPr b="0" i="0" lang="en" sz="3233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b="0" i="0" sz="3233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217141" y="3035115"/>
            <a:ext cx="751800" cy="751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None/>
            </a:pPr>
            <a:r>
              <a:rPr b="0" i="0" lang="en" sz="3233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b="0" i="0" sz="3233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099105" y="2568970"/>
            <a:ext cx="751800" cy="751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None/>
            </a:pPr>
            <a:r>
              <a:rPr b="0" i="0" lang="en" sz="3233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0" i="0" sz="3233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844462" y="2568970"/>
            <a:ext cx="751800" cy="751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None/>
            </a:pPr>
            <a:r>
              <a:rPr b="0" i="0" lang="en" sz="3233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b="0" i="0" sz="3233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7589819" y="2568970"/>
            <a:ext cx="751800" cy="751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3"/>
              <a:buFont typeface="Arial"/>
              <a:buNone/>
            </a:pPr>
            <a:r>
              <a:rPr b="0" i="0" lang="en" sz="3233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</a:t>
            </a:r>
            <a:endParaRPr b="0" i="0" sz="3233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238158" y="1454926"/>
            <a:ext cx="196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4"/>
              <a:buFont typeface="Arial"/>
              <a:buNone/>
            </a:pPr>
            <a:r>
              <a:rPr b="0" i="0" lang="en" sz="1724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BAKE-OFF</a:t>
            </a:r>
            <a:endParaRPr b="0" i="0" sz="1724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095410" y="1707592"/>
            <a:ext cx="22506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"/>
              <a:buFont typeface="Arial"/>
              <a:buNone/>
            </a:pPr>
            <a:r>
              <a:rPr b="0" i="0" lang="en" sz="118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Tune a decision tree, random forest and XGBoost with cross-validation.</a:t>
            </a:r>
            <a:endParaRPr b="0" i="0" sz="118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975941" y="1579594"/>
            <a:ext cx="196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4"/>
              <a:buFont typeface="Arial"/>
              <a:buNone/>
            </a:pPr>
            <a:r>
              <a:rPr b="0" i="0" lang="en" sz="1724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ROUTE</a:t>
            </a:r>
            <a:endParaRPr b="0" i="0" sz="1724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6833191" y="1832261"/>
            <a:ext cx="22506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"/>
              <a:buFont typeface="Arial"/>
              <a:buNone/>
            </a:pPr>
            <a:r>
              <a:rPr b="0" i="0" lang="en" sz="118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Send each fuel type to the method that actually fits it.</a:t>
            </a:r>
            <a:endParaRPr b="0" i="0" sz="118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142750" y="3841587"/>
            <a:ext cx="196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4"/>
              <a:buFont typeface="Arial"/>
              <a:buNone/>
            </a:pPr>
            <a:r>
              <a:rPr b="0" i="0" lang="en" sz="1724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DEDUPE</a:t>
            </a:r>
            <a:endParaRPr b="0" i="0" sz="1724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0" y="4094254"/>
            <a:ext cx="22506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"/>
              <a:buFont typeface="Arial"/>
              <a:buNone/>
            </a:pPr>
            <a:r>
              <a:rPr b="0" i="0" lang="en" sz="118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Pull distinct specs from 10.8M events into 118K rows, blocking identical-car leakage.</a:t>
            </a:r>
            <a:endParaRPr b="0" i="0" sz="118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2888396" y="3841587"/>
            <a:ext cx="196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4"/>
              <a:buFont typeface="Arial"/>
              <a:buNone/>
            </a:pPr>
            <a:r>
              <a:rPr b="0" i="0" lang="en" sz="1724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EXPLORE</a:t>
            </a:r>
            <a:endParaRPr b="0" i="0" sz="1724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2745646" y="4094254"/>
            <a:ext cx="22506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"/>
              <a:buFont typeface="Arial"/>
              <a:buNone/>
            </a:pPr>
            <a:r>
              <a:rPr b="0" i="0" lang="en" sz="118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Profile distributions and missingness; drop only the rows proven wrong.</a:t>
            </a:r>
            <a:endParaRPr b="0" i="0" sz="118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626178" y="3841587"/>
            <a:ext cx="196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4"/>
              <a:buFont typeface="Arial"/>
              <a:buNone/>
            </a:pPr>
            <a:r>
              <a:rPr b="0" i="0" lang="en" sz="1724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DIAGNOSE</a:t>
            </a:r>
            <a:endParaRPr b="0" i="0" sz="1724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483428" y="4094254"/>
            <a:ext cx="22506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225" lIns="98525" spcFirstLastPara="1" rIns="98525" wrap="square" tIns="49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"/>
              <a:buFont typeface="Arial"/>
              <a:buNone/>
            </a:pPr>
            <a:r>
              <a:rPr b="0" i="0" lang="en" sz="118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 the worst residuals to see what the model still cannot explain.</a:t>
            </a:r>
            <a:endParaRPr b="0" i="0" sz="118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0" y="276949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</a:t>
            </a: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WORKFLOW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17"/>
          <p:cNvCxnSpPr/>
          <p:nvPr/>
        </p:nvCxnSpPr>
        <p:spPr>
          <a:xfrm>
            <a:off x="4310700" y="1312538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3917007" y="859952"/>
            <a:ext cx="1309800" cy="1309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3897300" y="1144637"/>
            <a:ext cx="134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b="0" i="0" sz="5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963362" y="3705940"/>
            <a:ext cx="721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Choosing features, reading the distribution, and </a:t>
            </a:r>
            <a:r>
              <a:rPr lang="en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anomalies</a:t>
            </a:r>
            <a:endParaRPr b="0" i="0" sz="18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0" name="Google Shape;150;p18"/>
          <p:cNvCxnSpPr/>
          <p:nvPr/>
        </p:nvCxnSpPr>
        <p:spPr>
          <a:xfrm>
            <a:off x="4310700" y="3470661"/>
            <a:ext cx="522600" cy="0"/>
          </a:xfrm>
          <a:prstGeom prst="straightConnector1">
            <a:avLst/>
          </a:prstGeom>
          <a:noFill/>
          <a:ln cap="flat" cmpd="sng" w="38100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8"/>
          <p:cNvSpPr txBox="1"/>
          <p:nvPr/>
        </p:nvSpPr>
        <p:spPr>
          <a:xfrm>
            <a:off x="0" y="2322857"/>
            <a:ext cx="91440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br>
              <a:rPr b="0" i="0" lang="en" sz="4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1" i="0" lang="en" sz="7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EXPLORATION</a:t>
            </a:r>
            <a:endParaRPr b="0" i="0" sz="4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794450" y="1983475"/>
            <a:ext cx="7555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400" lIns="79400" spcFirstLastPara="1" rIns="79400" wrap="square" tIns="794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Five specs predict CO₂; leaky columns are excluded.</a:t>
            </a:r>
            <a:endParaRPr b="0" i="0" sz="19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57" name="Google Shape;157;p19"/>
          <p:cNvGrpSpPr/>
          <p:nvPr/>
        </p:nvGrpSpPr>
        <p:grpSpPr>
          <a:xfrm>
            <a:off x="898719" y="2465417"/>
            <a:ext cx="249574" cy="225534"/>
            <a:chOff x="408795" y="2665504"/>
            <a:chExt cx="317605" cy="287012"/>
          </a:xfrm>
        </p:grpSpPr>
        <p:cxnSp>
          <p:nvCxnSpPr>
            <p:cNvPr id="158" name="Google Shape;158;p19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19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19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1" name="Google Shape;161;p19"/>
          <p:cNvGrpSpPr/>
          <p:nvPr/>
        </p:nvGrpSpPr>
        <p:grpSpPr>
          <a:xfrm>
            <a:off x="898719" y="3125964"/>
            <a:ext cx="249574" cy="225534"/>
            <a:chOff x="408795" y="2665504"/>
            <a:chExt cx="317605" cy="287012"/>
          </a:xfrm>
        </p:grpSpPr>
        <p:cxnSp>
          <p:nvCxnSpPr>
            <p:cNvPr id="162" name="Google Shape;162;p19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9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9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5" name="Google Shape;165;p19"/>
          <p:cNvGrpSpPr/>
          <p:nvPr/>
        </p:nvGrpSpPr>
        <p:grpSpPr>
          <a:xfrm>
            <a:off x="898719" y="3793350"/>
            <a:ext cx="249574" cy="225534"/>
            <a:chOff x="408795" y="2665504"/>
            <a:chExt cx="317605" cy="287012"/>
          </a:xfrm>
        </p:grpSpPr>
        <p:cxnSp>
          <p:nvCxnSpPr>
            <p:cNvPr id="166" name="Google Shape;166;p19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9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9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" name="Google Shape;169;p19"/>
          <p:cNvGrpSpPr/>
          <p:nvPr/>
        </p:nvGrpSpPr>
        <p:grpSpPr>
          <a:xfrm>
            <a:off x="4660516" y="2465417"/>
            <a:ext cx="249574" cy="225534"/>
            <a:chOff x="408795" y="2665504"/>
            <a:chExt cx="317605" cy="287012"/>
          </a:xfrm>
        </p:grpSpPr>
        <p:cxnSp>
          <p:nvCxnSpPr>
            <p:cNvPr id="170" name="Google Shape;170;p19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19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9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3" name="Google Shape;173;p19"/>
          <p:cNvGrpSpPr/>
          <p:nvPr/>
        </p:nvGrpSpPr>
        <p:grpSpPr>
          <a:xfrm>
            <a:off x="4660516" y="3125964"/>
            <a:ext cx="249574" cy="225534"/>
            <a:chOff x="408795" y="2665504"/>
            <a:chExt cx="317605" cy="287012"/>
          </a:xfrm>
        </p:grpSpPr>
        <p:cxnSp>
          <p:nvCxnSpPr>
            <p:cNvPr id="174" name="Google Shape;174;p19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19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19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7" name="Google Shape;177;p19"/>
          <p:cNvGrpSpPr/>
          <p:nvPr/>
        </p:nvGrpSpPr>
        <p:grpSpPr>
          <a:xfrm>
            <a:off x="4660516" y="3793350"/>
            <a:ext cx="249574" cy="225534"/>
            <a:chOff x="408795" y="2665504"/>
            <a:chExt cx="317605" cy="287012"/>
          </a:xfrm>
        </p:grpSpPr>
        <p:cxnSp>
          <p:nvCxnSpPr>
            <p:cNvPr id="178" name="Google Shape;178;p19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9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9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1" name="Google Shape;181;p19"/>
          <p:cNvSpPr txBox="1"/>
          <p:nvPr/>
        </p:nvSpPr>
        <p:spPr>
          <a:xfrm>
            <a:off x="0" y="439023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FEATURES &amp; </a:t>
            </a: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LEAKAGE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2" name="Google Shape;182;p19"/>
          <p:cNvCxnSpPr/>
          <p:nvPr/>
        </p:nvCxnSpPr>
        <p:spPr>
          <a:xfrm>
            <a:off x="4310700" y="1847213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9"/>
          <p:cNvSpPr txBox="1"/>
          <p:nvPr/>
        </p:nvSpPr>
        <p:spPr>
          <a:xfrm>
            <a:off x="1190125" y="2379712"/>
            <a:ext cx="30201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Fuel type (Ft): </a:t>
            </a:r>
            <a:r>
              <a:rPr b="1" i="0" lang="en" sz="1350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petrol, diesel, electric, hybrid and more.</a:t>
            </a:r>
            <a:endParaRPr b="0" i="0" sz="1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1190125" y="3052525"/>
            <a:ext cx="338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Mass &amp; engine size: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 in kg and Ec in cm³.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198050" y="3725362"/>
            <a:ext cx="3020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Power &amp; class: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engine kW (Ep) and vehicle category (Cr).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4982875" y="3035225"/>
            <a:ext cx="3381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Electric energy (Z):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Wh/km, defined only for electric drive.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4982875" y="3715987"/>
            <a:ext cx="3020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Legacy emission fields: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Enedc, Er… simply restate the answer.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4982875" y="2379712"/>
            <a:ext cx="3020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Fuel consumption (Fc):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CO₂ measured in litres — a direct proxy.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794450" y="1983475"/>
            <a:ext cx="7555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400" lIns="79400" spcFirstLastPara="1" rIns="79400" wrap="square" tIns="794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distribution is bimodal.</a:t>
            </a:r>
            <a:endParaRPr b="0" i="0" sz="19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898719" y="2465417"/>
            <a:ext cx="249574" cy="225534"/>
            <a:chOff x="408795" y="2665504"/>
            <a:chExt cx="317605" cy="287012"/>
          </a:xfrm>
        </p:grpSpPr>
        <p:cxnSp>
          <p:nvCxnSpPr>
            <p:cNvPr id="195" name="Google Shape;195;p20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20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20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8" name="Google Shape;198;p20"/>
          <p:cNvGrpSpPr/>
          <p:nvPr/>
        </p:nvGrpSpPr>
        <p:grpSpPr>
          <a:xfrm>
            <a:off x="898719" y="3125964"/>
            <a:ext cx="249574" cy="225534"/>
            <a:chOff x="408795" y="2665504"/>
            <a:chExt cx="317605" cy="287012"/>
          </a:xfrm>
        </p:grpSpPr>
        <p:cxnSp>
          <p:nvCxnSpPr>
            <p:cNvPr id="199" name="Google Shape;199;p20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20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20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2" name="Google Shape;202;p20"/>
          <p:cNvGrpSpPr/>
          <p:nvPr/>
        </p:nvGrpSpPr>
        <p:grpSpPr>
          <a:xfrm>
            <a:off x="898719" y="3793350"/>
            <a:ext cx="249574" cy="225534"/>
            <a:chOff x="408795" y="2665504"/>
            <a:chExt cx="317605" cy="287012"/>
          </a:xfrm>
        </p:grpSpPr>
        <p:cxnSp>
          <p:nvCxnSpPr>
            <p:cNvPr id="203" name="Google Shape;203;p20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20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20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6" name="Google Shape;206;p20"/>
          <p:cNvGrpSpPr/>
          <p:nvPr/>
        </p:nvGrpSpPr>
        <p:grpSpPr>
          <a:xfrm>
            <a:off x="4660516" y="2465417"/>
            <a:ext cx="249574" cy="225534"/>
            <a:chOff x="408795" y="2665504"/>
            <a:chExt cx="317605" cy="287012"/>
          </a:xfrm>
        </p:grpSpPr>
        <p:cxnSp>
          <p:nvCxnSpPr>
            <p:cNvPr id="207" name="Google Shape;207;p20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20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0" name="Google Shape;210;p20"/>
          <p:cNvGrpSpPr/>
          <p:nvPr/>
        </p:nvGrpSpPr>
        <p:grpSpPr>
          <a:xfrm>
            <a:off x="4660516" y="3125964"/>
            <a:ext cx="249574" cy="225534"/>
            <a:chOff x="408795" y="2665504"/>
            <a:chExt cx="317605" cy="287012"/>
          </a:xfrm>
        </p:grpSpPr>
        <p:cxnSp>
          <p:nvCxnSpPr>
            <p:cNvPr id="211" name="Google Shape;211;p20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20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20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4" name="Google Shape;214;p20"/>
          <p:cNvGrpSpPr/>
          <p:nvPr/>
        </p:nvGrpSpPr>
        <p:grpSpPr>
          <a:xfrm>
            <a:off x="4660516" y="3793350"/>
            <a:ext cx="249574" cy="225534"/>
            <a:chOff x="408795" y="2665504"/>
            <a:chExt cx="317605" cy="287012"/>
          </a:xfrm>
        </p:grpSpPr>
        <p:cxnSp>
          <p:nvCxnSpPr>
            <p:cNvPr id="215" name="Google Shape;215;p20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8" name="Google Shape;218;p20"/>
          <p:cNvSpPr txBox="1"/>
          <p:nvPr/>
        </p:nvSpPr>
        <p:spPr>
          <a:xfrm>
            <a:off x="0" y="439023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TARGET </a:t>
            </a: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SHAPE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190125" y="2379712"/>
            <a:ext cx="30201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spike at 0 g/km: </a:t>
            </a:r>
            <a:r>
              <a:rPr b="1" i="0" lang="en" sz="1350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electric and hydrogen vehicles.</a:t>
            </a:r>
            <a:endParaRPr b="0" i="0" sz="1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190125" y="3052525"/>
            <a:ext cx="338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main mode near 140: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ordinary petrol and diesel cars.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198050" y="3725362"/>
            <a:ext cx="3020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small bump at ~57: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early hint of a data problem.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982875" y="3035225"/>
            <a:ext cx="33819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03"/>
              <a:buFont typeface="Arial"/>
              <a:buNone/>
            </a:pP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982875" y="3715987"/>
            <a:ext cx="30201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03"/>
              <a:buFont typeface="Arial"/>
              <a:buNone/>
            </a:pP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982875" y="2379712"/>
            <a:ext cx="30201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03"/>
              <a:buFont typeface="Arial"/>
              <a:buNone/>
            </a:pP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0288" y="1188720"/>
            <a:ext cx="4160520" cy="294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/>
        </p:nvSpPr>
        <p:spPr>
          <a:xfrm>
            <a:off x="794450" y="1983475"/>
            <a:ext cx="7555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400" lIns="79400" spcFirstLastPara="1" rIns="79400" wrap="square" tIns="794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Same investigation, opposite verdicts.</a:t>
            </a:r>
            <a:endParaRPr b="0" i="0" sz="19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31" name="Google Shape;231;p21"/>
          <p:cNvGrpSpPr/>
          <p:nvPr/>
        </p:nvGrpSpPr>
        <p:grpSpPr>
          <a:xfrm>
            <a:off x="898719" y="2465417"/>
            <a:ext cx="249574" cy="225534"/>
            <a:chOff x="408795" y="2665504"/>
            <a:chExt cx="317605" cy="287012"/>
          </a:xfrm>
        </p:grpSpPr>
        <p:cxnSp>
          <p:nvCxnSpPr>
            <p:cNvPr id="232" name="Google Shape;232;p21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5" name="Google Shape;235;p21"/>
          <p:cNvGrpSpPr/>
          <p:nvPr/>
        </p:nvGrpSpPr>
        <p:grpSpPr>
          <a:xfrm>
            <a:off x="898719" y="3125964"/>
            <a:ext cx="249574" cy="225534"/>
            <a:chOff x="408795" y="2665504"/>
            <a:chExt cx="317605" cy="287012"/>
          </a:xfrm>
        </p:grpSpPr>
        <p:cxnSp>
          <p:nvCxnSpPr>
            <p:cNvPr id="236" name="Google Shape;236;p21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21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21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9" name="Google Shape;239;p21"/>
          <p:cNvGrpSpPr/>
          <p:nvPr/>
        </p:nvGrpSpPr>
        <p:grpSpPr>
          <a:xfrm>
            <a:off x="898719" y="3793350"/>
            <a:ext cx="249574" cy="225534"/>
            <a:chOff x="408795" y="2665504"/>
            <a:chExt cx="317605" cy="287012"/>
          </a:xfrm>
        </p:grpSpPr>
        <p:cxnSp>
          <p:nvCxnSpPr>
            <p:cNvPr id="240" name="Google Shape;240;p21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1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1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3" name="Google Shape;243;p21"/>
          <p:cNvGrpSpPr/>
          <p:nvPr/>
        </p:nvGrpSpPr>
        <p:grpSpPr>
          <a:xfrm>
            <a:off x="4660516" y="2465417"/>
            <a:ext cx="249574" cy="225534"/>
            <a:chOff x="408795" y="2665504"/>
            <a:chExt cx="317605" cy="287012"/>
          </a:xfrm>
        </p:grpSpPr>
        <p:cxnSp>
          <p:nvCxnSpPr>
            <p:cNvPr id="244" name="Google Shape;244;p21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1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21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7" name="Google Shape;247;p21"/>
          <p:cNvGrpSpPr/>
          <p:nvPr/>
        </p:nvGrpSpPr>
        <p:grpSpPr>
          <a:xfrm>
            <a:off x="4660516" y="3125964"/>
            <a:ext cx="249574" cy="225534"/>
            <a:chOff x="408795" y="2665504"/>
            <a:chExt cx="317605" cy="287012"/>
          </a:xfrm>
        </p:grpSpPr>
        <p:cxnSp>
          <p:nvCxnSpPr>
            <p:cNvPr id="248" name="Google Shape;248;p21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21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21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1" name="Google Shape;251;p21"/>
          <p:cNvGrpSpPr/>
          <p:nvPr/>
        </p:nvGrpSpPr>
        <p:grpSpPr>
          <a:xfrm>
            <a:off x="4660516" y="3793350"/>
            <a:ext cx="249574" cy="225534"/>
            <a:chOff x="408795" y="2665504"/>
            <a:chExt cx="317605" cy="287012"/>
          </a:xfrm>
        </p:grpSpPr>
        <p:cxnSp>
          <p:nvCxnSpPr>
            <p:cNvPr id="252" name="Google Shape;252;p21"/>
            <p:cNvCxnSpPr/>
            <p:nvPr/>
          </p:nvCxnSpPr>
          <p:spPr>
            <a:xfrm>
              <a:off x="408795" y="2809004"/>
              <a:ext cx="292200" cy="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21"/>
            <p:cNvCxnSpPr/>
            <p:nvPr/>
          </p:nvCxnSpPr>
          <p:spPr>
            <a:xfrm>
              <a:off x="571900" y="2665504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21"/>
            <p:cNvCxnSpPr/>
            <p:nvPr/>
          </p:nvCxnSpPr>
          <p:spPr>
            <a:xfrm flipH="1" rot="10800000">
              <a:off x="571900" y="2798016"/>
              <a:ext cx="154500" cy="154500"/>
            </a:xfrm>
            <a:prstGeom prst="straightConnector1">
              <a:avLst/>
            </a:prstGeom>
            <a:noFill/>
            <a:ln cap="flat" cmpd="sng" w="24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5" name="Google Shape;255;p21"/>
          <p:cNvSpPr txBox="1"/>
          <p:nvPr/>
        </p:nvSpPr>
        <p:spPr>
          <a:xfrm>
            <a:off x="0" y="439023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TWO </a:t>
            </a: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ANOMALIES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21"/>
          <p:cNvCxnSpPr/>
          <p:nvPr/>
        </p:nvCxnSpPr>
        <p:spPr>
          <a:xfrm>
            <a:off x="4310700" y="1847213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21"/>
          <p:cNvSpPr txBox="1"/>
          <p:nvPr/>
        </p:nvSpPr>
        <p:spPr>
          <a:xfrm>
            <a:off x="1190125" y="2379712"/>
            <a:ext cx="30201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Hydrogen cars flagged: </a:t>
            </a:r>
            <a:r>
              <a:rPr b="1" i="0" lang="en" sz="1350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 g/km CO₂ with a blank engine size.</a:t>
            </a:r>
            <a:endParaRPr b="0" i="0" sz="1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190125" y="3052525"/>
            <a:ext cx="3381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On inspection: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fuel-cells emit only water — values are correct.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198050" y="3725362"/>
            <a:ext cx="3020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Verdict — keep: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valid, informative rows the model should see.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982875" y="3035225"/>
            <a:ext cx="3381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On inspection: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742 share exactly 57; 98% also missing power.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982875" y="3715987"/>
            <a:ext cx="3020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Verdict — drop: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systematic placeholder, not real data.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982875" y="2379712"/>
            <a:ext cx="3020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42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rPr b="0" i="0" lang="en" sz="1390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977 rows flagged: </a:t>
            </a:r>
            <a:r>
              <a:rPr b="1" i="0" lang="en" sz="1216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3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petrol/diesel at an impossible ~57 g/km.</a:t>
            </a:r>
            <a:endParaRPr b="0" i="0" sz="135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/>
          <p:nvPr/>
        </p:nvSpPr>
        <p:spPr>
          <a:xfrm>
            <a:off x="3917007" y="859952"/>
            <a:ext cx="1309800" cy="1309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3897300" y="1144637"/>
            <a:ext cx="134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b="0" i="0" sz="5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963362" y="3590365"/>
            <a:ext cx="721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Three models, one diagnostic, and the insight that reframed the problem</a:t>
            </a:r>
            <a:endParaRPr b="0" i="0" sz="18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0" name="Google Shape;270;p22"/>
          <p:cNvCxnSpPr/>
          <p:nvPr/>
        </p:nvCxnSpPr>
        <p:spPr>
          <a:xfrm>
            <a:off x="4310700" y="3470661"/>
            <a:ext cx="522600" cy="0"/>
          </a:xfrm>
          <a:prstGeom prst="straightConnector1">
            <a:avLst/>
          </a:prstGeom>
          <a:noFill/>
          <a:ln cap="flat" cmpd="sng" w="38100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22"/>
          <p:cNvSpPr txBox="1"/>
          <p:nvPr/>
        </p:nvSpPr>
        <p:spPr>
          <a:xfrm>
            <a:off x="0" y="2322857"/>
            <a:ext cx="91440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br>
              <a:rPr b="0" i="0" lang="en" sz="4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1" i="0" lang="en" sz="7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MODELLING</a:t>
            </a:r>
            <a:endParaRPr b="0" i="0" sz="4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/>
          <p:nvPr/>
        </p:nvSpPr>
        <p:spPr>
          <a:xfrm>
            <a:off x="5944741" y="1502396"/>
            <a:ext cx="2775900" cy="2775900"/>
          </a:xfrm>
          <a:prstGeom prst="rect">
            <a:avLst/>
          </a:prstGeom>
          <a:solidFill>
            <a:srgbClr val="E0446D"/>
          </a:solidFill>
          <a:ln>
            <a:noFill/>
          </a:ln>
        </p:spPr>
        <p:txBody>
          <a:bodyPr anchorCtr="0" anchor="ctr" bIns="154300" lIns="154300" spcFirstLastPara="1" rIns="154300" wrap="square" tIns="1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2"/>
              <a:buFont typeface="Arial"/>
              <a:buNone/>
            </a:pPr>
            <a:r>
              <a:t/>
            </a:r>
            <a:endParaRPr b="0" i="0" sz="23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178785" y="1502396"/>
            <a:ext cx="2775900" cy="2775900"/>
          </a:xfrm>
          <a:prstGeom prst="rect">
            <a:avLst/>
          </a:prstGeom>
          <a:solidFill>
            <a:srgbClr val="0ECC83"/>
          </a:solidFill>
          <a:ln>
            <a:noFill/>
          </a:ln>
        </p:spPr>
        <p:txBody>
          <a:bodyPr anchorCtr="0" anchor="ctr" bIns="154300" lIns="154300" spcFirstLastPara="1" rIns="154300" wrap="square" tIns="1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2"/>
              <a:buFont typeface="Arial"/>
              <a:buNone/>
            </a:pPr>
            <a:r>
              <a:t/>
            </a:r>
            <a:endParaRPr b="0" i="0" sz="23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13549" y="1502396"/>
            <a:ext cx="2775900" cy="2775900"/>
          </a:xfrm>
          <a:prstGeom prst="rect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154300" lIns="154300" spcFirstLastPara="1" rIns="154300" wrap="square" tIns="1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2"/>
              <a:buFont typeface="Arial"/>
              <a:buNone/>
            </a:pPr>
            <a:r>
              <a:t/>
            </a:r>
            <a:endParaRPr b="0" i="0" sz="23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602" y="1774586"/>
            <a:ext cx="1419556" cy="141947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413437" y="3130443"/>
            <a:ext cx="2775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146625" spcFirstLastPara="1" rIns="146625" wrap="square" tIns="7327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4"/>
              <a:buFont typeface="Arial"/>
              <a:buNone/>
            </a:pPr>
            <a:r>
              <a:rPr b="0" i="0" lang="en" sz="208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MAE</a:t>
            </a:r>
            <a:endParaRPr b="0" i="0" sz="2084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413437" y="3391424"/>
            <a:ext cx="2775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146625" spcFirstLastPara="1" rIns="146625" wrap="square" tIns="73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Arial"/>
              <a:buNone/>
            </a:pPr>
            <a:r>
              <a:rPr b="0" i="0" lang="en" sz="128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Mean Absolute Error — the average miss, in g/km. 'On average, off by this much.' Lower is better.</a:t>
            </a:r>
            <a:endParaRPr b="0" i="0" sz="1283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6251" y="1774586"/>
            <a:ext cx="1419556" cy="141947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3184086" y="3130443"/>
            <a:ext cx="2775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146625" spcFirstLastPara="1" rIns="146625" wrap="square" tIns="7327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4"/>
              <a:buFont typeface="Arial"/>
              <a:buNone/>
            </a:pPr>
            <a:r>
              <a:rPr b="0" i="0" lang="en" sz="208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RMSE</a:t>
            </a:r>
            <a:endParaRPr b="0" i="0" sz="2084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3184086" y="3391424"/>
            <a:ext cx="2775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146625" spcFirstLastPara="1" rIns="146625" wrap="square" tIns="73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Arial"/>
              <a:buNone/>
            </a:pPr>
            <a:r>
              <a:rPr b="0" i="0" lang="en" sz="128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Root Mean Squared Error — also g/km, but big misses count extra, so it punishes inconsistency. Lower is better.</a:t>
            </a:r>
            <a:endParaRPr b="0" i="0" sz="1283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901" y="1774586"/>
            <a:ext cx="1419556" cy="141947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5954735" y="3130443"/>
            <a:ext cx="2775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146625" spcFirstLastPara="1" rIns="146625" wrap="square" tIns="7327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4"/>
              <a:buFont typeface="Arial"/>
              <a:buNone/>
            </a:pPr>
            <a:r>
              <a:rPr b="0" i="0" lang="en" sz="208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R²</a:t>
            </a:r>
            <a:endParaRPr b="0" i="0" sz="2084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5954735" y="3391424"/>
            <a:ext cx="2775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146625" spcFirstLastPara="1" rIns="146625" wrap="square" tIns="73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Arial"/>
              <a:buNone/>
            </a:pPr>
            <a:r>
              <a:rPr b="0" i="0" lang="en" sz="128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share of the variation in CO₂ the model explains, from 0 to 1. Higher is better; 1.0 is perfect.</a:t>
            </a:r>
            <a:endParaRPr b="0" i="0" sz="1283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-5275" y="225846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READING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SCORES</a:t>
            </a: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9" name="Google Shape;289;p23"/>
          <p:cNvCxnSpPr/>
          <p:nvPr/>
        </p:nvCxnSpPr>
        <p:spPr>
          <a:xfrm>
            <a:off x="4310700" y="1332561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23"/>
          <p:cNvSpPr/>
          <p:nvPr/>
        </p:nvSpPr>
        <p:spPr>
          <a:xfrm>
            <a:off x="658368" y="4345045"/>
            <a:ext cx="782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14B5C6"/>
                </a:solidFill>
                <a:latin typeface="Arial"/>
                <a:ea typeface="Arial"/>
                <a:cs typeface="Arial"/>
                <a:sym typeface="Arial"/>
              </a:rPr>
              <a:t>RMSE and MAE share the target’s units (g/km), so smaller means tighter. </a:t>
            </a:r>
            <a:r>
              <a:rPr i="1" lang="en" sz="1200">
                <a:solidFill>
                  <a:srgbClr val="FFFFFF"/>
                </a:solidFill>
              </a:rPr>
              <a:t>F</a:t>
            </a:r>
            <a:r>
              <a:rPr b="0" i="1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inal model: MAE 8.3, RMSE ~14, R² 0.91.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24"/>
          <p:cNvGraphicFramePr/>
          <p:nvPr/>
        </p:nvGraphicFramePr>
        <p:xfrm>
          <a:off x="609563" y="1964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{CC78343F-18F7-4C15-9314-DD8F16BAFE89}</a:tableStyleId>
              </a:tblPr>
              <a:tblGrid>
                <a:gridCol w="1584975"/>
                <a:gridCol w="1584975"/>
                <a:gridCol w="1584975"/>
                <a:gridCol w="1584975"/>
                <a:gridCol w="1584975"/>
              </a:tblGrid>
              <a:tr h="3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MODEL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CV RMSE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CC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TEST RMSE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MAE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CC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R²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5C6"/>
                    </a:solidFill>
                  </a:tcPr>
                </a:tc>
              </a:tr>
              <a:tr h="3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Decision Tree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20.1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20.0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9.97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0.913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</a:tr>
              <a:tr h="3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Random Forest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18.9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19.0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9.37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0.921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5A6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848"/>
                    </a:solidFill>
                  </a:tcPr>
                </a:tc>
              </a:tr>
              <a:tr h="3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XGBoost ✓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18.7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18.7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10.06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0.923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22450" marB="22450" marR="44900" marL="44900" anchor="ctr">
                    <a:lnL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38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5A6C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p24"/>
          <p:cNvSpPr txBox="1"/>
          <p:nvPr/>
        </p:nvSpPr>
        <p:spPr>
          <a:xfrm>
            <a:off x="0" y="608894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MODEL BAKE-OFF</a:t>
            </a:r>
            <a:br>
              <a:rPr b="0" i="0" lang="en" sz="4000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FUEL TYPES</a:t>
            </a: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7" name="Google Shape;297;p24"/>
          <p:cNvCxnSpPr/>
          <p:nvPr/>
        </p:nvCxnSpPr>
        <p:spPr>
          <a:xfrm>
            <a:off x="4310700" y="1712283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24"/>
          <p:cNvSpPr/>
          <p:nvPr/>
        </p:nvSpPr>
        <p:spPr>
          <a:xfrm>
            <a:off x="658368" y="4160520"/>
            <a:ext cx="782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14B5C6"/>
                </a:solidFill>
                <a:latin typeface="Arial"/>
                <a:ea typeface="Arial"/>
                <a:cs typeface="Arial"/>
                <a:sym typeface="Arial"/>
              </a:rPr>
              <a:t>Winner chosen by cross-validated RMSE. </a:t>
            </a:r>
            <a:r>
              <a:rPr b="0" i="1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plain linear baseline scored MAE 22.9 — the trees roughly halve that.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25"/>
          <p:cNvGrpSpPr/>
          <p:nvPr/>
        </p:nvGrpSpPr>
        <p:grpSpPr>
          <a:xfrm flipH="1">
            <a:off x="3259513" y="2002318"/>
            <a:ext cx="2624970" cy="2624283"/>
            <a:chOff x="4049800" y="640400"/>
            <a:chExt cx="858900" cy="858900"/>
          </a:xfrm>
        </p:grpSpPr>
        <p:sp>
          <p:nvSpPr>
            <p:cNvPr id="304" name="Google Shape;304;p25"/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fmla="val 25000" name="adj"/>
              </a:avLst>
            </a:prstGeom>
            <a:solidFill>
              <a:srgbClr val="14B5C6"/>
            </a:solidFill>
            <a:ln>
              <a:noFill/>
            </a:ln>
          </p:spPr>
          <p:txBody>
            <a:bodyPr anchorCtr="0" anchor="ctr" bIns="378525" lIns="378525" spcFirstLastPara="1" rIns="378525" wrap="square" tIns="37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fmla="val 21598365" name="adj1"/>
                <a:gd fmla="val 18574000" name="adj2"/>
                <a:gd fmla="val 24993" name="adj3"/>
              </a:avLst>
            </a:prstGeom>
            <a:solidFill>
              <a:srgbClr val="E0446D"/>
            </a:solidFill>
            <a:ln>
              <a:noFill/>
            </a:ln>
          </p:spPr>
          <p:txBody>
            <a:bodyPr anchorCtr="0" anchor="ctr" bIns="378525" lIns="378525" spcFirstLastPara="1" rIns="378525" wrap="square" tIns="37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6" name="Google Shape;306;p25"/>
          <p:cNvCxnSpPr/>
          <p:nvPr/>
        </p:nvCxnSpPr>
        <p:spPr>
          <a:xfrm>
            <a:off x="5535950" y="3314449"/>
            <a:ext cx="987900" cy="0"/>
          </a:xfrm>
          <a:prstGeom prst="straightConnector1">
            <a:avLst/>
          </a:prstGeom>
          <a:noFill/>
          <a:ln cap="flat" cmpd="sng" w="9525">
            <a:solidFill>
              <a:srgbClr val="E0446D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07" name="Google Shape;307;p25"/>
          <p:cNvSpPr/>
          <p:nvPr/>
        </p:nvSpPr>
        <p:spPr>
          <a:xfrm>
            <a:off x="5918252" y="2657813"/>
            <a:ext cx="24813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650" lIns="110650" spcFirstLastPara="1" rIns="110650" wrap="square" tIns="110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E0446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86%</a:t>
            </a:r>
            <a:endParaRPr b="0" i="0" sz="5000" u="none" cap="none" strike="noStrike">
              <a:solidFill>
                <a:srgbClr val="E0446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5573010" y="2401968"/>
            <a:ext cx="31551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650" lIns="110650" spcFirstLastPara="1" rIns="110650" wrap="square" tIns="11065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6"/>
              <a:buFont typeface="Arial"/>
              <a:buNone/>
            </a:pPr>
            <a:r>
              <a:rPr b="0" i="0" lang="en" sz="1936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PLUG-IN HYBRIDS</a:t>
            </a:r>
            <a:endParaRPr b="0" i="0" sz="1936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5720501" y="2662507"/>
            <a:ext cx="2859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650" lIns="110650" spcFirstLastPara="1" rIns="110650" wrap="square" tIns="11065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r>
              <a:rPr b="0" i="0" lang="en" sz="1815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of the 50 worst errors</a:t>
            </a:r>
            <a:endParaRPr b="0" i="0" sz="1815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310" name="Google Shape;310;p25"/>
          <p:cNvCxnSpPr/>
          <p:nvPr/>
        </p:nvCxnSpPr>
        <p:spPr>
          <a:xfrm>
            <a:off x="2564150" y="2857249"/>
            <a:ext cx="987900" cy="0"/>
          </a:xfrm>
          <a:prstGeom prst="straightConnector1">
            <a:avLst/>
          </a:prstGeom>
          <a:noFill/>
          <a:ln cap="flat" cmpd="sng" w="9525">
            <a:solidFill>
              <a:srgbClr val="14B5C6"/>
            </a:solidFill>
            <a:prstDash val="solid"/>
            <a:round/>
            <a:headEnd len="sm" w="sm" type="oval"/>
            <a:tailEnd len="sm" w="sm" type="none"/>
          </a:ln>
        </p:spPr>
      </p:cxnSp>
      <p:sp>
        <p:nvSpPr>
          <p:cNvPr id="311" name="Google Shape;311;p25"/>
          <p:cNvSpPr/>
          <p:nvPr/>
        </p:nvSpPr>
        <p:spPr>
          <a:xfrm>
            <a:off x="719952" y="2200613"/>
            <a:ext cx="24813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650" lIns="110650" spcFirstLastPara="1" rIns="110650" wrap="square" tIns="110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14%</a:t>
            </a:r>
            <a:endParaRPr b="0" i="0" sz="5000" u="none" cap="none" strike="noStrike">
              <a:solidFill>
                <a:srgbClr val="14B5C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374711" y="1944768"/>
            <a:ext cx="31551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650" lIns="110650" spcFirstLastPara="1" rIns="110650" wrap="square" tIns="11065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6"/>
              <a:buFont typeface="Arial"/>
              <a:buNone/>
            </a:pPr>
            <a:r>
              <a:rPr b="0" i="0" lang="en" sz="1936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ALL OTHER</a:t>
            </a:r>
            <a:endParaRPr b="0" i="0" sz="1936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522201" y="2205307"/>
            <a:ext cx="2859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650" lIns="110650" spcFirstLastPara="1" rIns="110650" wrap="square" tIns="11065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r>
              <a:rPr b="0" i="0" lang="en" sz="1815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fuel types</a:t>
            </a:r>
            <a:endParaRPr b="0" i="0" sz="1815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0" y="608894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8.7% OF CARS,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86% OF THE MISSES</a:t>
            </a: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5" name="Google Shape;315;p25"/>
          <p:cNvCxnSpPr/>
          <p:nvPr/>
        </p:nvCxnSpPr>
        <p:spPr>
          <a:xfrm>
            <a:off x="4310700" y="1712283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/>
          <p:nvPr/>
        </p:nvSpPr>
        <p:spPr>
          <a:xfrm>
            <a:off x="5936264" y="1865225"/>
            <a:ext cx="2769000" cy="2768700"/>
          </a:xfrm>
          <a:prstGeom prst="rect">
            <a:avLst/>
          </a:prstGeom>
          <a:solidFill>
            <a:srgbClr val="E0446D"/>
          </a:solidFill>
          <a:ln>
            <a:noFill/>
          </a:ln>
        </p:spPr>
        <p:txBody>
          <a:bodyPr anchorCtr="0" anchor="ctr" bIns="153900" lIns="153900" spcFirstLastPara="1" rIns="153900" wrap="square" tIns="153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6"/>
              <a:buFont typeface="Arial"/>
              <a:buNone/>
            </a:pPr>
            <a:r>
              <a:t/>
            </a:r>
            <a:endParaRPr b="0" i="0" sz="23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3177224" y="1865225"/>
            <a:ext cx="2769000" cy="2768700"/>
          </a:xfrm>
          <a:prstGeom prst="rect">
            <a:avLst/>
          </a:prstGeom>
          <a:solidFill>
            <a:srgbClr val="0ECC83"/>
          </a:solidFill>
          <a:ln>
            <a:noFill/>
          </a:ln>
        </p:spPr>
        <p:txBody>
          <a:bodyPr anchorCtr="0" anchor="ctr" bIns="153900" lIns="153900" spcFirstLastPara="1" rIns="153900" wrap="square" tIns="153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6"/>
              <a:buFont typeface="Arial"/>
              <a:buNone/>
            </a:pPr>
            <a:r>
              <a:t/>
            </a:r>
            <a:endParaRPr b="0" i="0" sz="23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418902" y="1865225"/>
            <a:ext cx="2769000" cy="2768700"/>
          </a:xfrm>
          <a:prstGeom prst="rect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153900" lIns="153900" spcFirstLastPara="1" rIns="153900" wrap="square" tIns="153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6"/>
              <a:buFont typeface="Arial"/>
              <a:buNone/>
            </a:pPr>
            <a:r>
              <a:t/>
            </a:r>
            <a:endParaRPr b="0" i="0" sz="23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234" y="2136824"/>
            <a:ext cx="1416003" cy="141592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418800" y="3489275"/>
            <a:ext cx="2769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9"/>
              <a:buFont typeface="Arial"/>
              <a:buNone/>
            </a:pPr>
            <a:r>
              <a:rPr b="0" i="0" lang="en" sz="2079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COMBUSTION</a:t>
            </a:r>
            <a:endParaRPr b="0" i="0" sz="2079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18800" y="3749601"/>
            <a:ext cx="27690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0" i="0" lang="en" sz="12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Petrol, diesel, LPG — CO₂ tracks the hardware, so XGBoost predicts it.</a:t>
            </a:r>
            <a:endParaRPr b="0" i="0" sz="128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2955" y="2136824"/>
            <a:ext cx="1416003" cy="141592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6"/>
          <p:cNvSpPr txBox="1"/>
          <p:nvPr/>
        </p:nvSpPr>
        <p:spPr>
          <a:xfrm>
            <a:off x="3182521" y="3489275"/>
            <a:ext cx="2769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9"/>
              <a:buFont typeface="Arial"/>
              <a:buNone/>
            </a:pPr>
            <a:r>
              <a:rPr b="0" i="0" lang="en" sz="2079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ZERO-TAILPIPE</a:t>
            </a:r>
            <a:endParaRPr b="0" i="0" sz="2079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8" name="Google Shape;328;p26"/>
          <p:cNvSpPr txBox="1"/>
          <p:nvPr/>
        </p:nvSpPr>
        <p:spPr>
          <a:xfrm>
            <a:off x="3182521" y="3749601"/>
            <a:ext cx="27690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0" i="0" lang="en" sz="12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Electric and hydrogen emit nothing at the tailpipe — assigned 0 g/km.</a:t>
            </a:r>
            <a:endParaRPr b="0" i="0" sz="128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6678" y="2136824"/>
            <a:ext cx="1416003" cy="141592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5946242" y="3489275"/>
            <a:ext cx="2769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9"/>
              <a:buFont typeface="Arial"/>
              <a:buNone/>
            </a:pPr>
            <a:r>
              <a:rPr b="0" i="0" lang="en" sz="2079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PLUG-IN HYBRID</a:t>
            </a:r>
            <a:endParaRPr b="0" i="0" sz="2079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5946242" y="3749601"/>
            <a:ext cx="27690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0" i="0" lang="en" sz="12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Emissions depend on charging habits no dataset sees — certified value × a real-world correction.</a:t>
            </a:r>
            <a:endParaRPr b="0" i="0" sz="128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-4975" y="379746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ONE FLEET,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PROBLEMS</a:t>
            </a: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3" name="Google Shape;333;p26"/>
          <p:cNvCxnSpPr/>
          <p:nvPr/>
        </p:nvCxnSpPr>
        <p:spPr>
          <a:xfrm>
            <a:off x="4305725" y="1486461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 txBox="1"/>
          <p:nvPr/>
        </p:nvSpPr>
        <p:spPr>
          <a:xfrm>
            <a:off x="1016294" y="2136398"/>
            <a:ext cx="1243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≥ 60 KM</a:t>
            </a:r>
            <a:endParaRPr b="0" i="0" sz="145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339" name="Google Shape;339;p27"/>
          <p:cNvCxnSpPr/>
          <p:nvPr/>
        </p:nvCxnSpPr>
        <p:spPr>
          <a:xfrm>
            <a:off x="674763" y="2603382"/>
            <a:ext cx="7823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0" name="Google Shape;340;p27"/>
          <p:cNvCxnSpPr/>
          <p:nvPr/>
        </p:nvCxnSpPr>
        <p:spPr>
          <a:xfrm>
            <a:off x="1628357" y="2679168"/>
            <a:ext cx="0" cy="614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41" name="Google Shape;341;p27"/>
          <p:cNvSpPr txBox="1"/>
          <p:nvPr/>
        </p:nvSpPr>
        <p:spPr>
          <a:xfrm>
            <a:off x="2982044" y="2136398"/>
            <a:ext cx="1243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40–60 KM</a:t>
            </a:r>
            <a:endParaRPr b="0" i="0" sz="145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342" name="Google Shape;342;p27"/>
          <p:cNvCxnSpPr/>
          <p:nvPr/>
        </p:nvCxnSpPr>
        <p:spPr>
          <a:xfrm>
            <a:off x="3594107" y="2679168"/>
            <a:ext cx="0" cy="614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43" name="Google Shape;343;p27"/>
          <p:cNvSpPr txBox="1"/>
          <p:nvPr/>
        </p:nvSpPr>
        <p:spPr>
          <a:xfrm>
            <a:off x="4948376" y="2136398"/>
            <a:ext cx="1243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20–40 KM</a:t>
            </a:r>
            <a:endParaRPr b="0" i="0" sz="145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344" name="Google Shape;344;p27"/>
          <p:cNvCxnSpPr/>
          <p:nvPr/>
        </p:nvCxnSpPr>
        <p:spPr>
          <a:xfrm>
            <a:off x="5560439" y="2679168"/>
            <a:ext cx="0" cy="614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45" name="Google Shape;345;p27"/>
          <p:cNvSpPr/>
          <p:nvPr/>
        </p:nvSpPr>
        <p:spPr>
          <a:xfrm>
            <a:off x="1544906" y="2527811"/>
            <a:ext cx="162300" cy="161400"/>
          </a:xfrm>
          <a:prstGeom prst="ellipse">
            <a:avLst/>
          </a:prstGeom>
          <a:solidFill>
            <a:srgbClr val="223848"/>
          </a:solidFill>
          <a:ln cap="flat" cmpd="sng" w="62600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3517415" y="2527811"/>
            <a:ext cx="162300" cy="161400"/>
          </a:xfrm>
          <a:prstGeom prst="ellipse">
            <a:avLst/>
          </a:prstGeom>
          <a:solidFill>
            <a:srgbClr val="223848"/>
          </a:solidFill>
          <a:ln cap="flat" cmpd="sng" w="62600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5483747" y="2527811"/>
            <a:ext cx="162300" cy="161400"/>
          </a:xfrm>
          <a:prstGeom prst="ellipse">
            <a:avLst/>
          </a:prstGeom>
          <a:solidFill>
            <a:srgbClr val="223848"/>
          </a:solidFill>
          <a:ln cap="flat" cmpd="sng" w="62600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658787" y="2945552"/>
            <a:ext cx="1940400" cy="1106700"/>
          </a:xfrm>
          <a:prstGeom prst="round1Rect">
            <a:avLst>
              <a:gd fmla="val 30041" name="adj"/>
            </a:avLst>
          </a:prstGeom>
          <a:solidFill>
            <a:srgbClr val="3F5A6C"/>
          </a:solidFill>
          <a:ln>
            <a:noFill/>
          </a:ln>
        </p:spPr>
        <p:txBody>
          <a:bodyPr anchorCtr="0" anchor="ctr" bIns="72375" lIns="72375" spcFirstLastPara="1" rIns="72375" wrap="square" tIns="72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8"/>
              <a:buFont typeface="Arial"/>
              <a:buNone/>
            </a:pPr>
            <a:r>
              <a:t/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 txBox="1"/>
          <p:nvPr/>
        </p:nvSpPr>
        <p:spPr>
          <a:xfrm>
            <a:off x="815334" y="3091114"/>
            <a:ext cx="17871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88375" spcFirstLastPara="1" rIns="88375" wrap="square" tIns="883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 1.25</a:t>
            </a:r>
            <a:b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+25% over the label</a:t>
            </a:r>
            <a:br>
              <a:rPr b="0" i="0" lang="en" sz="161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br>
              <a:rPr b="0" i="1" lang="en" sz="98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1" sz="986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2626580" y="2945552"/>
            <a:ext cx="1940400" cy="1106700"/>
          </a:xfrm>
          <a:prstGeom prst="round1Rect">
            <a:avLst>
              <a:gd fmla="val 30041" name="adj"/>
            </a:avLst>
          </a:prstGeom>
          <a:solidFill>
            <a:srgbClr val="3F5A6C"/>
          </a:solidFill>
          <a:ln>
            <a:noFill/>
          </a:ln>
        </p:spPr>
        <p:txBody>
          <a:bodyPr anchorCtr="0" anchor="ctr" bIns="72375" lIns="72375" spcFirstLastPara="1" rIns="72375" wrap="square" tIns="72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8"/>
              <a:buFont typeface="Arial"/>
              <a:buNone/>
            </a:pPr>
            <a:r>
              <a:t/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2783126" y="3091114"/>
            <a:ext cx="17871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88375" spcFirstLastPara="1" rIns="88375" wrap="square" tIns="883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 1.40</a:t>
            </a:r>
            <a:b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+40% over the label</a:t>
            </a:r>
            <a:br>
              <a:rPr b="0" i="0" lang="en" sz="161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br>
              <a:rPr b="0" i="1" lang="en" sz="98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1" sz="986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4587513" y="2945552"/>
            <a:ext cx="1940400" cy="1106700"/>
          </a:xfrm>
          <a:prstGeom prst="round1Rect">
            <a:avLst>
              <a:gd fmla="val 30041" name="adj"/>
            </a:avLst>
          </a:prstGeom>
          <a:solidFill>
            <a:srgbClr val="3F5A6C"/>
          </a:solidFill>
          <a:ln>
            <a:noFill/>
          </a:ln>
        </p:spPr>
        <p:txBody>
          <a:bodyPr anchorCtr="0" anchor="ctr" bIns="72375" lIns="72375" spcFirstLastPara="1" rIns="72375" wrap="square" tIns="72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8"/>
              <a:buFont typeface="Arial"/>
              <a:buNone/>
            </a:pPr>
            <a:r>
              <a:t/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4744060" y="3091114"/>
            <a:ext cx="17871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88375" spcFirstLastPara="1" rIns="88375" wrap="square" tIns="883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 1.55</a:t>
            </a:r>
            <a:b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+55% over the label</a:t>
            </a:r>
            <a:br>
              <a:rPr b="0" i="0" lang="en" sz="161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br>
              <a:rPr b="0" i="1" lang="en" sz="98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1" sz="986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6919123" y="2136398"/>
            <a:ext cx="1243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&lt; 20 KM</a:t>
            </a:r>
            <a:endParaRPr b="0" i="0" sz="145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355" name="Google Shape;355;p27"/>
          <p:cNvCxnSpPr/>
          <p:nvPr/>
        </p:nvCxnSpPr>
        <p:spPr>
          <a:xfrm>
            <a:off x="7531186" y="2679168"/>
            <a:ext cx="0" cy="614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56" name="Google Shape;356;p27"/>
          <p:cNvSpPr/>
          <p:nvPr/>
        </p:nvSpPr>
        <p:spPr>
          <a:xfrm>
            <a:off x="7454494" y="2527811"/>
            <a:ext cx="162300" cy="161400"/>
          </a:xfrm>
          <a:prstGeom prst="ellipse">
            <a:avLst/>
          </a:prstGeom>
          <a:solidFill>
            <a:srgbClr val="223848"/>
          </a:solidFill>
          <a:ln cap="flat" cmpd="sng" w="62600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6558262" y="2945552"/>
            <a:ext cx="1940400" cy="1106700"/>
          </a:xfrm>
          <a:prstGeom prst="round1Rect">
            <a:avLst>
              <a:gd fmla="val 30041" name="adj"/>
            </a:avLst>
          </a:prstGeom>
          <a:solidFill>
            <a:srgbClr val="3F5A6C"/>
          </a:solidFill>
          <a:ln>
            <a:noFill/>
          </a:ln>
        </p:spPr>
        <p:txBody>
          <a:bodyPr anchorCtr="0" anchor="ctr" bIns="72375" lIns="72375" spcFirstLastPara="1" rIns="72375" wrap="square" tIns="72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8"/>
              <a:buFont typeface="Arial"/>
              <a:buNone/>
            </a:pPr>
            <a:r>
              <a:t/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7"/>
          <p:cNvSpPr txBox="1"/>
          <p:nvPr/>
        </p:nvSpPr>
        <p:spPr>
          <a:xfrm>
            <a:off x="6714808" y="3091114"/>
            <a:ext cx="17871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88375" spcFirstLastPara="1" rIns="88375" wrap="square" tIns="883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 1.70</a:t>
            </a:r>
            <a:b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0" i="0" lang="en" sz="132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+70% over the label</a:t>
            </a:r>
            <a:br>
              <a:rPr b="0" i="0" lang="en" sz="1614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br>
              <a:rPr b="0" i="1" lang="en" sz="98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1" sz="986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7"/>
          <p:cNvSpPr txBox="1"/>
          <p:nvPr/>
        </p:nvSpPr>
        <p:spPr>
          <a:xfrm>
            <a:off x="0" y="608931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THE HYBRID </a:t>
            </a:r>
            <a:r>
              <a:rPr b="1" i="0" lang="en" sz="4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  </a:t>
            </a: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CORRECTION</a:t>
            </a:r>
            <a:br>
              <a:rPr b="0" i="0" lang="en" sz="4000" u="none" cap="none" strike="noStrike">
                <a:solidFill>
                  <a:srgbClr val="14B5C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0" name="Google Shape;360;p27"/>
          <p:cNvCxnSpPr/>
          <p:nvPr/>
        </p:nvCxnSpPr>
        <p:spPr>
          <a:xfrm>
            <a:off x="4310700" y="2017120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/>
          <p:nvPr/>
        </p:nvSpPr>
        <p:spPr>
          <a:xfrm>
            <a:off x="3916907" y="683652"/>
            <a:ext cx="1309800" cy="1309800"/>
          </a:xfrm>
          <a:prstGeom prst="ellipse">
            <a:avLst/>
          </a:prstGeom>
          <a:solidFill>
            <a:srgbClr val="14B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8"/>
          <p:cNvSpPr txBox="1"/>
          <p:nvPr/>
        </p:nvSpPr>
        <p:spPr>
          <a:xfrm>
            <a:off x="3897200" y="968337"/>
            <a:ext cx="134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b="0" i="0" sz="5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963462" y="3644065"/>
            <a:ext cx="721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the clean </a:t>
            </a:r>
            <a:r>
              <a:rPr lang="en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</a:t>
            </a:r>
            <a:r>
              <a:rPr b="0" i="0" lang="en" sz="18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delivers on unseen vehicles</a:t>
            </a:r>
            <a:endParaRPr b="0" i="0" sz="18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8" name="Google Shape;368;p28"/>
          <p:cNvCxnSpPr/>
          <p:nvPr/>
        </p:nvCxnSpPr>
        <p:spPr>
          <a:xfrm>
            <a:off x="4310700" y="3554986"/>
            <a:ext cx="522600" cy="0"/>
          </a:xfrm>
          <a:prstGeom prst="straightConnector1">
            <a:avLst/>
          </a:prstGeom>
          <a:noFill/>
          <a:ln cap="flat" cmpd="sng" w="38100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28"/>
          <p:cNvSpPr txBox="1"/>
          <p:nvPr/>
        </p:nvSpPr>
        <p:spPr>
          <a:xfrm>
            <a:off x="0" y="2233170"/>
            <a:ext cx="91440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</a:t>
            </a:r>
            <a:endParaRPr sz="4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" sz="7000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R</a:t>
            </a:r>
            <a:r>
              <a:rPr b="1" i="0" lang="en" sz="7000" u="none" cap="none" strike="noStrike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ESULTS</a:t>
            </a:r>
            <a:endParaRPr b="0" i="0" sz="40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/>
          <p:nvPr/>
        </p:nvSpPr>
        <p:spPr>
          <a:xfrm>
            <a:off x="943450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2773481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4603513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7" name="Google Shape;377;p29"/>
          <p:cNvSpPr txBox="1"/>
          <p:nvPr/>
        </p:nvSpPr>
        <p:spPr>
          <a:xfrm>
            <a:off x="952084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8.3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952084" y="3227891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G/KM MEAN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ERROR (MAE)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2771605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5.0%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2771605" y="3227891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 AVERAGE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EMISSIONS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29"/>
          <p:cNvSpPr txBox="1"/>
          <p:nvPr/>
        </p:nvSpPr>
        <p:spPr>
          <a:xfrm>
            <a:off x="4602567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0.91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4602567" y="3227891"/>
            <a:ext cx="177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R² ON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HELD-OUT DATA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6434509" y="2243075"/>
            <a:ext cx="1777500" cy="1978200"/>
          </a:xfrm>
          <a:prstGeom prst="round1Rect">
            <a:avLst>
              <a:gd fmla="val 30870" name="adj"/>
            </a:avLst>
          </a:prstGeom>
          <a:solidFill>
            <a:srgbClr val="3F5A6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4" name="Google Shape;384;p29"/>
          <p:cNvSpPr txBox="1"/>
          <p:nvPr/>
        </p:nvSpPr>
        <p:spPr>
          <a:xfrm>
            <a:off x="6433563" y="2802966"/>
            <a:ext cx="17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−25%</a:t>
            </a:r>
            <a:endParaRPr b="0" i="0" sz="4000" u="none" cap="none" strike="noStrike">
              <a:solidFill>
                <a:srgbClr val="0ECC8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5" name="Google Shape;385;p29"/>
          <p:cNvSpPr txBox="1"/>
          <p:nvPr/>
        </p:nvSpPr>
        <p:spPr>
          <a:xfrm>
            <a:off x="6433563" y="3227891"/>
            <a:ext cx="177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RMSE VS THE </a:t>
            </a:r>
            <a:b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ALL-FUEL MODEL</a:t>
            </a:r>
            <a:endParaRPr b="1" i="0" sz="1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9"/>
          <p:cNvSpPr txBox="1"/>
          <p:nvPr/>
        </p:nvSpPr>
        <p:spPr>
          <a:xfrm>
            <a:off x="0" y="532694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0ECC83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b="0" i="0" lang="en" sz="4000" u="none" cap="none" strike="noStrike">
                <a:solidFill>
                  <a:srgbClr val="0ECC8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</a:t>
            </a:r>
            <a:r>
              <a:rPr b="0" i="0" lang="en" sz="4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RESULTS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7" name="Google Shape;387;p29"/>
          <p:cNvCxnSpPr/>
          <p:nvPr/>
        </p:nvCxnSpPr>
        <p:spPr>
          <a:xfrm>
            <a:off x="4310700" y="1940883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0ECC8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"/>
          <p:cNvSpPr txBox="1"/>
          <p:nvPr/>
        </p:nvSpPr>
        <p:spPr>
          <a:xfrm>
            <a:off x="0" y="296217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" sz="7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Lessons</a:t>
            </a:r>
            <a:r>
              <a:rPr b="1" i="0" lang="en" sz="7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b="1" i="0" lang="en" sz="40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  </a:t>
            </a:r>
            <a:r>
              <a:rPr b="0" i="0" lang="en" sz="4000" u="none" cap="none" strike="noStrike">
                <a:solidFill>
                  <a:srgbClr val="14B5C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LEARNED</a:t>
            </a:r>
            <a:br>
              <a:rPr b="0" i="0" lang="en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3" name="Google Shape;393;p30"/>
          <p:cNvCxnSpPr/>
          <p:nvPr/>
        </p:nvCxnSpPr>
        <p:spPr>
          <a:xfrm>
            <a:off x="4310700" y="1402932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30"/>
          <p:cNvSpPr txBox="1"/>
          <p:nvPr/>
        </p:nvSpPr>
        <p:spPr>
          <a:xfrm>
            <a:off x="548640" y="2743200"/>
            <a:ext cx="25602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25" lIns="79675" spcFirstLastPara="1" rIns="79675" wrap="square" tIns="39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n" sz="132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DON'T MODEL EVERYTHING</a:t>
            </a:r>
            <a:endParaRPr b="0" i="0" sz="132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95" name="Google Shape;395;p30"/>
          <p:cNvSpPr txBox="1"/>
          <p:nvPr/>
        </p:nvSpPr>
        <p:spPr>
          <a:xfrm>
            <a:off x="548740" y="3300303"/>
            <a:ext cx="2560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25" lIns="79675" spcFirstLastPara="1" rIns="79675" wrap="square" tIns="39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third of the fleet — EVs and hybrids — needed rules, not regression.</a:t>
            </a:r>
            <a:endParaRPr b="0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30"/>
          <p:cNvSpPr txBox="1"/>
          <p:nvPr/>
        </p:nvSpPr>
        <p:spPr>
          <a:xfrm>
            <a:off x="3291890" y="2875775"/>
            <a:ext cx="2560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25" lIns="79675" spcFirstLastPara="1" rIns="79675" wrap="square" tIns="39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n" sz="132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SPLIT BEFORE YOU LOOK</a:t>
            </a:r>
            <a:endParaRPr b="0" i="0" sz="132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97" name="Google Shape;397;p30"/>
          <p:cNvSpPr txBox="1"/>
          <p:nvPr/>
        </p:nvSpPr>
        <p:spPr>
          <a:xfrm>
            <a:off x="3291840" y="3310128"/>
            <a:ext cx="25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25" lIns="79675" spcFirstLastPara="1" rIns="79675" wrap="square" tIns="39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clean-and-transform choice used training data only, keeping the test score honest.</a:t>
            </a:r>
            <a:endParaRPr b="0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0"/>
          <p:cNvSpPr txBox="1"/>
          <p:nvPr/>
        </p:nvSpPr>
        <p:spPr>
          <a:xfrm>
            <a:off x="6035040" y="2743200"/>
            <a:ext cx="25602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25" lIns="79675" spcFirstLastPara="1" rIns="79675" wrap="square" tIns="39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n" sz="132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RESIDUALS ARE A DETECTIVE</a:t>
            </a:r>
            <a:endParaRPr b="0" i="0" sz="132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6035040" y="3310128"/>
            <a:ext cx="2560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25" lIns="79675" spcFirstLastPara="1" rIns="79675" wrap="square" tIns="39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worst errors exposed both the fake 57 g/km rows and the hybrid problem.</a:t>
            </a:r>
            <a:endParaRPr b="0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0" name="Google Shape;40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176" y="1600200"/>
            <a:ext cx="841247" cy="84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1376" y="1600200"/>
            <a:ext cx="841247" cy="84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76" y="1600200"/>
            <a:ext cx="841247" cy="841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848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75052">
            <a:off x="6195401" y="2193793"/>
            <a:ext cx="2656743" cy="2658046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1"/>
          <p:cNvSpPr/>
          <p:nvPr/>
        </p:nvSpPr>
        <p:spPr>
          <a:xfrm>
            <a:off x="2668200" y="1882950"/>
            <a:ext cx="3807600" cy="1377600"/>
          </a:xfrm>
          <a:prstGeom prst="round1Rect">
            <a:avLst>
              <a:gd fmla="val 0" name="adj"/>
            </a:avLst>
          </a:prstGeom>
          <a:solidFill>
            <a:srgbClr val="14B5C6"/>
          </a:solidFill>
          <a:ln>
            <a:noFill/>
          </a:ln>
        </p:spPr>
        <p:txBody>
          <a:bodyPr anchorCtr="0" anchor="ctr" bIns="42950" lIns="42950" spcFirstLastPara="1" rIns="42950" wrap="square" tIns="42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t/>
            </a:r>
            <a:endParaRPr b="0" i="0" sz="65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3035900" y="2187350"/>
            <a:ext cx="3439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" sz="55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Thanks!</a:t>
            </a:r>
            <a:endParaRPr b="0" i="0" sz="5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10" name="Google Shape;410;p31"/>
          <p:cNvGrpSpPr/>
          <p:nvPr/>
        </p:nvGrpSpPr>
        <p:grpSpPr>
          <a:xfrm rot="-899965">
            <a:off x="8009368" y="2297524"/>
            <a:ext cx="388949" cy="367510"/>
            <a:chOff x="6663518" y="1866442"/>
            <a:chExt cx="371315" cy="350881"/>
          </a:xfrm>
        </p:grpSpPr>
        <p:cxnSp>
          <p:nvCxnSpPr>
            <p:cNvPr id="411" name="Google Shape;411;p31"/>
            <p:cNvCxnSpPr/>
            <p:nvPr/>
          </p:nvCxnSpPr>
          <p:spPr>
            <a:xfrm flipH="1" rot="10800000">
              <a:off x="6793158" y="1937892"/>
              <a:ext cx="151200" cy="151200"/>
            </a:xfrm>
            <a:prstGeom prst="straightConnector1">
              <a:avLst/>
            </a:prstGeom>
            <a:noFill/>
            <a:ln cap="flat" cmpd="sng" w="45425">
              <a:solidFill>
                <a:srgbClr val="0ECC8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31"/>
            <p:cNvCxnSpPr/>
            <p:nvPr/>
          </p:nvCxnSpPr>
          <p:spPr>
            <a:xfrm flipH="1" rot="10800000">
              <a:off x="6895033" y="2194523"/>
              <a:ext cx="139800" cy="22800"/>
            </a:xfrm>
            <a:prstGeom prst="straightConnector1">
              <a:avLst/>
            </a:prstGeom>
            <a:noFill/>
            <a:ln cap="flat" cmpd="sng" w="45425">
              <a:solidFill>
                <a:srgbClr val="0ECC8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31"/>
            <p:cNvCxnSpPr/>
            <p:nvPr/>
          </p:nvCxnSpPr>
          <p:spPr>
            <a:xfrm flipH="1" rot="10800000">
              <a:off x="6663518" y="1866442"/>
              <a:ext cx="21600" cy="139200"/>
            </a:xfrm>
            <a:prstGeom prst="straightConnector1">
              <a:avLst/>
            </a:prstGeom>
            <a:noFill/>
            <a:ln cap="flat" cmpd="sng" w="45425">
              <a:solidFill>
                <a:srgbClr val="0ECC8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